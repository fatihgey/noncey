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9201" autoAdjust="0"/>
    <p:restoredTop sz="94610"/>
  </p:normalViewPr>
  <p:slideViewPr>
    <p:cSldViewPr snapToGrid="0" snapToObjects="1">
      <p:cViewPr varScale="1">
        <p:scale>
          <a:sx n="150" d="100"/>
          <a:sy n="150" d="100"/>
        </p:scale>
        <p:origin x="1195" y="3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002274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46304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Lessons Learnt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2743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with Claude Code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" name="Shape 1"/>
          <p:cNvSpPr/>
          <p:nvPr/>
        </p:nvSpPr>
        <p:spPr>
          <a:xfrm>
            <a:off x="164592" y="0"/>
            <a:ext cx="8979408" cy="10058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" name="Text 2"/>
          <p:cNvSpPr/>
          <p:nvPr/>
        </p:nvSpPr>
        <p:spPr>
          <a:xfrm>
            <a:off x="347472" y="0"/>
            <a:ext cx="8595360" cy="1005840"/>
          </a:xfrm>
          <a:prstGeom prst="rect">
            <a:avLst/>
          </a:prstGeom>
          <a:noFill/>
          <a:ln/>
        </p:spPr>
        <p:txBody>
          <a:bodyPr wrap="square" lIns="127000" tIns="127000" rIns="127000" bIns="12700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47472" y="1143000"/>
            <a:ext cx="850392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2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ranking (1 = lowest, higher = more expensive):</a:t>
            </a:r>
            <a:endParaRPr lang="en-US" sz="2400" dirty="0"/>
          </a:p>
          <a:p>
            <a:pPr marL="457200" lvl="1" indent="-228600">
              <a:buSzPct val="100000"/>
              <a:buChar char="•"/>
            </a:pPr>
            <a:r>
              <a:rPr lang="en-US" sz="2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  Writing concept &amp; discussing the concept</a:t>
            </a:r>
            <a:endParaRPr lang="en-US" sz="2400" dirty="0"/>
          </a:p>
          <a:p>
            <a:pPr marL="457200" lvl="1" indent="-228600">
              <a:buSzPct val="100000"/>
              <a:buChar char="•"/>
            </a:pPr>
            <a:r>
              <a:rPr lang="en-US" sz="2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#2  Writing code</a:t>
            </a:r>
            <a:endParaRPr lang="en-US" sz="2400" dirty="0"/>
          </a:p>
          <a:p>
            <a:pPr marL="457200" lvl="1" indent="-228600">
              <a:buSzPct val="100000"/>
              <a:buChar char="•"/>
            </a:pPr>
            <a:r>
              <a:rPr lang="en-US" sz="2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#3  Changing code</a:t>
            </a:r>
            <a:endParaRPr lang="en-US" sz="2400" dirty="0"/>
          </a:p>
          <a:p>
            <a:pPr marL="457200" lvl="1" indent="-228600">
              <a:buSzPct val="100000"/>
              <a:buChar char="•"/>
            </a:pPr>
            <a:r>
              <a:rPr lang="en-US" sz="2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#4  Troubleshooting</a:t>
            </a:r>
            <a:endParaRPr 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" name="Shape 1"/>
          <p:cNvSpPr/>
          <p:nvPr/>
        </p:nvSpPr>
        <p:spPr>
          <a:xfrm>
            <a:off x="164592" y="0"/>
            <a:ext cx="8979408" cy="10058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" name="Text 2"/>
          <p:cNvSpPr/>
          <p:nvPr/>
        </p:nvSpPr>
        <p:spPr>
          <a:xfrm>
            <a:off x="347472" y="0"/>
            <a:ext cx="8595360" cy="1005840"/>
          </a:xfrm>
          <a:prstGeom prst="rect">
            <a:avLst/>
          </a:prstGeom>
          <a:noFill/>
          <a:ln/>
        </p:spPr>
        <p:txBody>
          <a:bodyPr wrap="square" lIns="127000" tIns="127000" rIns="127000" bIns="12700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&amp; Don'ts — Workflow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47472" y="1143000"/>
            <a:ext cx="850392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to Code: 70/30 — spend time on concept first, then implementation</a:t>
            </a:r>
            <a:endParaRPr lang="en-US" sz="1600" dirty="0"/>
          </a:p>
          <a:p>
            <a:pPr marL="457200" lvl="1" indent="-228600">
              <a:buSzPct val="100000"/>
              <a:buChar char="•"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Consider implementing parts of the concept at once</a:t>
            </a:r>
            <a:endParaRPr lang="en-US" sz="1600" dirty="0"/>
          </a:p>
          <a:p>
            <a:pPr marL="457200" lvl="1" indent="-228600">
              <a:buSzPct val="100000"/>
              <a:buChar char="•"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e2e modules with small interfaces (design by contract), implement one at a time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Issues &amp; Changes: Report multiple related issues at once; number them for reference</a:t>
            </a:r>
            <a:endParaRPr lang="en-US" sz="1600" dirty="0"/>
          </a:p>
          <a:p>
            <a:pPr marL="457200" lvl="1" indent="-228600">
              <a:buSzPct val="100000"/>
              <a:buChar char="•"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descriptions are stored in GitHub commit comments by Claude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everything — discuss test concept first, just like code</a:t>
            </a:r>
            <a:endParaRPr lang="en-US" sz="1600" dirty="0"/>
          </a:p>
          <a:p>
            <a:pPr marL="457200" lvl="1" indent="-228600">
              <a:buSzPct val="100000"/>
              <a:buChar char="•"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 the tests yourself (write or at least review them)</a:t>
            </a:r>
            <a:endParaRPr lang="en-US" sz="1600" dirty="0"/>
          </a:p>
          <a:p>
            <a:pPr marL="457200" lvl="1" indent="-228600">
              <a:buSzPct val="100000"/>
              <a:buChar char="•"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+ tests failing on the same issue is unlikely — tests are your safety net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Documentation: develop concept first, then run — don't let Claude handle docs on its own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easy code-test loops: continuous deployment + auto-test + feedback channel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" name="Shape 1"/>
          <p:cNvSpPr/>
          <p:nvPr/>
        </p:nvSpPr>
        <p:spPr>
          <a:xfrm>
            <a:off x="164592" y="0"/>
            <a:ext cx="8979408" cy="10058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" name="Text 2"/>
          <p:cNvSpPr/>
          <p:nvPr/>
        </p:nvSpPr>
        <p:spPr>
          <a:xfrm>
            <a:off x="347472" y="0"/>
            <a:ext cx="8595360" cy="1005840"/>
          </a:xfrm>
          <a:prstGeom prst="rect">
            <a:avLst/>
          </a:prstGeom>
          <a:noFill/>
          <a:ln/>
        </p:spPr>
        <p:txBody>
          <a:bodyPr wrap="square" lIns="127000" tIns="127000" rIns="127000" bIns="12700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&amp; Don'ts — Troubleshooting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47472" y="1143000"/>
            <a:ext cx="850392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rely on Claude's default troubleshooting mode</a:t>
            </a:r>
            <a:endParaRPr lang="en-US" sz="1600" dirty="0"/>
          </a:p>
          <a:p>
            <a:pPr marL="457200" lvl="1" indent="-228600">
              <a:buSzPct val="100000"/>
              <a:buChar char="•"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performs small analysis cycles and suggests immediate solutions that are well-reasoned yet wrong</a:t>
            </a:r>
            <a:endParaRPr lang="en-US" sz="1600" dirty="0"/>
          </a:p>
          <a:p>
            <a:pPr marL="457200" lvl="1" indent="-228600">
              <a:buSzPct val="100000"/>
              <a:buChar char="•"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human approach: gather lots of context first, then traverse a decision tree efficiently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provide your own insights and root-cause hunches</a:t>
            </a:r>
            <a:endParaRPr lang="en-US" sz="1600" dirty="0"/>
          </a:p>
          <a:p>
            <a:pPr marL="457200" lvl="1" indent="-228600">
              <a:buSzPct val="100000"/>
              <a:buChar char="•"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Claude Code to always do root-cause analysis first</a:t>
            </a:r>
            <a:endParaRPr lang="en-US" sz="1600" dirty="0"/>
          </a:p>
          <a:p>
            <a:pPr marL="457200" lvl="1" indent="-228600">
              <a:buSzPct val="100000"/>
              <a:buChar char="•"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obvious issues: cheap; for hard ones: burns tokens — know when to opt for a design-level change instead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 problems short — address one at a time</a:t>
            </a:r>
            <a:endParaRPr lang="en-US" sz="1600" dirty="0"/>
          </a:p>
          <a:p>
            <a:pPr marL="457200" lvl="1" indent="-228600">
              <a:buSzPct val="100000"/>
              <a:buChar char="•"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understanding can drop/change after context compression or clearing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" name="Shape 1"/>
          <p:cNvSpPr/>
          <p:nvPr/>
        </p:nvSpPr>
        <p:spPr>
          <a:xfrm>
            <a:off x="164592" y="0"/>
            <a:ext cx="8979408" cy="10058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" name="Text 2"/>
          <p:cNvSpPr/>
          <p:nvPr/>
        </p:nvSpPr>
        <p:spPr>
          <a:xfrm>
            <a:off x="347472" y="0"/>
            <a:ext cx="8595360" cy="1005840"/>
          </a:xfrm>
          <a:prstGeom prst="rect">
            <a:avLst/>
          </a:prstGeom>
          <a:noFill/>
          <a:ln/>
        </p:spPr>
        <p:txBody>
          <a:bodyPr wrap="square" lIns="127000" tIns="127000" rIns="127000" bIns="12700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 (Claude Code)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47472" y="114300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Directory Structure</a:t>
            </a: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347472" y="1554480"/>
            <a:ext cx="38404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CLAUDE.md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Subagents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47472" y="306324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Avoiding Context Bloat</a:t>
            </a: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347472" y="3474720"/>
            <a:ext cx="38404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/clear often, start new sessions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Divide and conquer: concept → modules → one at a time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663440" y="114300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to Try</a:t>
            </a: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663440" y="1554480"/>
            <a:ext cx="41148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Playwright (Browser Control)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Design Skill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Firecrawl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" name="Shape 1"/>
          <p:cNvSpPr/>
          <p:nvPr/>
        </p:nvSpPr>
        <p:spPr>
          <a:xfrm>
            <a:off x="164592" y="0"/>
            <a:ext cx="8979408" cy="10058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" name="Text 2"/>
          <p:cNvSpPr/>
          <p:nvPr/>
        </p:nvSpPr>
        <p:spPr>
          <a:xfrm>
            <a:off x="347472" y="0"/>
            <a:ext cx="8595360" cy="1005840"/>
          </a:xfrm>
          <a:prstGeom prst="rect">
            <a:avLst/>
          </a:prstGeom>
          <a:noFill/>
          <a:ln/>
        </p:spPr>
        <p:txBody>
          <a:bodyPr wrap="square" lIns="127000" tIns="127000" rIns="127000" bIns="12700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Strength — ChatGPT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47472" y="1143000"/>
            <a:ext cx="850392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 (Go Subscription ~8€/m)</a:t>
            </a:r>
            <a:endParaRPr lang="en-US" sz="1400" dirty="0"/>
          </a:p>
          <a:p>
            <a:pPr marL="457200" lvl="1" indent="-228600"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at explanations; strength is popular/well-known information</a:t>
            </a:r>
            <a:endParaRPr lang="en-US" sz="1400" dirty="0"/>
          </a:p>
          <a:p>
            <a:pPr marL="457200" lvl="1" indent="-228600"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making based on most popular choice — can't reason consistently across interdependent aspects</a:t>
            </a:r>
            <a:endParaRPr lang="en-US" sz="1400" dirty="0"/>
          </a:p>
          <a:p>
            <a:pPr marL="457200" lvl="1" indent="-228600"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for info chunks — you stay in the driver seat for decisions</a:t>
            </a:r>
            <a:endParaRPr lang="en-US" sz="1400" dirty="0"/>
          </a:p>
          <a:p>
            <a:pPr marL="457200" lvl="1" indent="-228600"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[WEAK] Alternates design on each improvement step — loses progress</a:t>
            </a:r>
            <a:endParaRPr lang="en-US" sz="1400" dirty="0"/>
          </a:p>
          <a:p>
            <a:pPr marL="457200" lvl="1" indent="-228600"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[WEAK] File download does not work</a:t>
            </a:r>
            <a:endParaRPr lang="en-US" sz="1400" dirty="0"/>
          </a:p>
          <a:p>
            <a:pPr marL="457200" lvl="1" indent="-228600"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[WEAK] Incremental web page enhancement doesn't work well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</a:t>
            </a:r>
            <a:endParaRPr lang="en-US" sz="1400" dirty="0"/>
          </a:p>
          <a:p>
            <a:pPr marL="457200" lvl="1" indent="-228600"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[WEAK] Chrome integration poor; won't fetch websites</a:t>
            </a:r>
            <a:endParaRPr lang="en-US" sz="1400" dirty="0"/>
          </a:p>
          <a:p>
            <a:pPr marL="457200" lvl="1" indent="-228600"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Python: strong</a:t>
            </a:r>
            <a:endParaRPr lang="en-US" sz="1400" dirty="0"/>
          </a:p>
          <a:p>
            <a:pPr marL="457200" lvl="1" indent="-228600"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description in plain text doesn't work — describe the site like an application; store names/colours; add absolute anchors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" name="Shape 1"/>
          <p:cNvSpPr/>
          <p:nvPr/>
        </p:nvSpPr>
        <p:spPr>
          <a:xfrm>
            <a:off x="164592" y="0"/>
            <a:ext cx="8979408" cy="10058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" name="Text 2"/>
          <p:cNvSpPr/>
          <p:nvPr/>
        </p:nvSpPr>
        <p:spPr>
          <a:xfrm>
            <a:off x="347472" y="0"/>
            <a:ext cx="8595360" cy="1005840"/>
          </a:xfrm>
          <a:prstGeom prst="rect">
            <a:avLst/>
          </a:prstGeom>
          <a:noFill/>
          <a:ln/>
        </p:spPr>
        <p:txBody>
          <a:bodyPr wrap="square" lIns="127000" tIns="127000" rIns="127000" bIns="12700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Scoreboards</a:t>
            </a:r>
            <a:endParaRPr lang="en-US" sz="28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47472" y="1143000"/>
          <a:ext cx="8503920" cy="2606040"/>
        </p:xfrm>
        <a:graphic>
          <a:graphicData uri="http://schemas.openxmlformats.org/drawingml/2006/table">
            <a:tbl>
              <a:tblPr/>
              <a:tblGrid>
                <a:gridCol w="411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Capability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5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Claude Code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5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ChatGPT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5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Creating a concept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5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9/10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5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5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Sunshine scenarios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5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10/10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5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5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Linux Tool Setup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5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8/10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5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5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Knowledge (version awareness)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5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9/10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5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9/10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5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Setup (without asking)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5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5/10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5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3/10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5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Troubleshooting depth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5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7/10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5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3/10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5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Architecture decisions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5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10/10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5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2/10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5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Creating websites (first shot)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5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~7/10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5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~7/10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5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" name="Shape 1"/>
          <p:cNvSpPr/>
          <p:nvPr/>
        </p:nvSpPr>
        <p:spPr>
          <a:xfrm>
            <a:off x="164592" y="0"/>
            <a:ext cx="8979408" cy="10058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" name="Text 2"/>
          <p:cNvSpPr/>
          <p:nvPr/>
        </p:nvSpPr>
        <p:spPr>
          <a:xfrm>
            <a:off x="347472" y="0"/>
            <a:ext cx="8595360" cy="1005840"/>
          </a:xfrm>
          <a:prstGeom prst="rect">
            <a:avLst/>
          </a:prstGeom>
          <a:noFill/>
          <a:ln/>
        </p:spPr>
        <p:txBody>
          <a:bodyPr wrap="square" lIns="127000" tIns="127000" rIns="127000" bIns="12700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Assessment &amp; the Expectation Trap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47472" y="1143000"/>
            <a:ext cx="850392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GenAI often identifies the deeper problem behind your description and solves the more generic version — leading to more elegant solutions. This works well for technical (under-the-hood) suggestions.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usability and UI features however, it tends to interpret requests literally and may miss intent. The challenge: in typical interactions you mix UI and technical aspects — making it hard to calibrate your expectations.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volume of code per minute is huge compared to traditional coding, causing 'reading/assessment fatigue'. A promising model: TDD — run each result against tests and postpone code inspection to a final review step.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" name="Shape 1"/>
          <p:cNvSpPr/>
          <p:nvPr/>
        </p:nvSpPr>
        <p:spPr>
          <a:xfrm>
            <a:off x="164592" y="0"/>
            <a:ext cx="8979408" cy="10058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" name="Text 2"/>
          <p:cNvSpPr/>
          <p:nvPr/>
        </p:nvSpPr>
        <p:spPr>
          <a:xfrm>
            <a:off x="347472" y="0"/>
            <a:ext cx="8595360" cy="1005840"/>
          </a:xfrm>
          <a:prstGeom prst="rect">
            <a:avLst/>
          </a:prstGeom>
          <a:noFill/>
          <a:ln/>
        </p:spPr>
        <p:txBody>
          <a:bodyPr wrap="square" lIns="127000" tIns="127000" rIns="127000" bIns="12700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Control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47472" y="1143000"/>
            <a:ext cx="850392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60% of all code had to be re-touched and fixed locally</a:t>
            </a:r>
            <a:endParaRPr lang="en-US" sz="1500" dirty="0"/>
          </a:p>
          <a:p>
            <a:pPr marL="457200" lvl="1" indent="-228600"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raises questions about coherence of components and architecture over time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control elements:</a:t>
            </a:r>
            <a:endParaRPr lang="en-US" sz="1500" dirty="0"/>
          </a:p>
          <a:p>
            <a:pPr marL="457200" lvl="1" indent="-228600"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 the tests yourself</a:t>
            </a:r>
            <a:endParaRPr lang="en-US" sz="1500" dirty="0"/>
          </a:p>
          <a:p>
            <a:pPr marL="457200" lvl="1" indent="-228600"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for architecture documentation (you need the concept upfront!)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 ~20% potential issues even in reviewed components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Consider not building core components with AI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680</Words>
  <Application>Microsoft Office PowerPoint</Application>
  <PresentationFormat>Bildschirmpräsentation (16:9)</PresentationFormat>
  <Paragraphs>104</Paragraphs>
  <Slides>9</Slides>
  <Notes>9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2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Lessons Learnt</dc:title>
  <dc:subject>PptxGenJS Presentation</dc:subject>
  <dc:creator>PptxGenJS</dc:creator>
  <cp:lastModifiedBy>Fatih Gey</cp:lastModifiedBy>
  <cp:revision>2</cp:revision>
  <dcterms:created xsi:type="dcterms:W3CDTF">2026-04-09T14:45:55Z</dcterms:created>
  <dcterms:modified xsi:type="dcterms:W3CDTF">2026-04-09T17:55:49Z</dcterms:modified>
</cp:coreProperties>
</file>